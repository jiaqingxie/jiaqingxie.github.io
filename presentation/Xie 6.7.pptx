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57" r:id="rId4"/>
    <p:sldId id="306" r:id="rId5"/>
    <p:sldId id="258" r:id="rId6"/>
    <p:sldId id="266" r:id="rId7"/>
    <p:sldId id="259" r:id="rId8"/>
    <p:sldId id="260" r:id="rId9"/>
    <p:sldId id="310" r:id="rId10"/>
    <p:sldId id="307" r:id="rId11"/>
    <p:sldId id="309" r:id="rId12"/>
    <p:sldId id="312" r:id="rId13"/>
    <p:sldId id="311" r:id="rId14"/>
    <p:sldId id="30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3857" autoAdjust="0"/>
  </p:normalViewPr>
  <p:slideViewPr>
    <p:cSldViewPr snapToGrid="0">
      <p:cViewPr varScale="1">
        <p:scale>
          <a:sx n="103" d="100"/>
          <a:sy n="103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6B59E-6F7D-4414-9CAC-F0F78D07F526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5778D-C742-4FC3-A0B1-E3AD99B3E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5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54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70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987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706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280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643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52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690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5778D-C742-4FC3-A0B1-E3AD99B3E67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3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9C00C-4716-CD2D-6180-4DEE3F436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F2C7AF-D07E-3F35-84C3-A50FC75D8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ADC25-080D-CE6B-0BA2-AA6112F8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BF3A7-BC51-2B5E-1C31-A0AE8743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22FDF-05C3-5C0D-E58B-A0F3A3A7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39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95DF3-EC8D-026B-E2C4-EDF93997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FA716-39A0-B830-AB02-D3217BDB0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3623C-50B3-FF8E-E461-83C39DF1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02916-398A-7A91-40D4-CFBD57C4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DDE03-48D2-73D9-1140-4B9C1BE6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71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9C955-59C0-A069-17C2-96F72390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75C96E-7769-90A8-681C-5D55374EC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FF174-59C3-188B-2759-B394F0B0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CF6EC-5C86-C3F1-D3C5-53911A83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71C494-44F7-43E3-E602-978244E9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9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63AF6-6136-3202-2615-604E126A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3F107-5BCE-D9ED-E47F-E8CA4D960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EB11F3-1BDF-9331-743C-E3D86C930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93CB13-612D-6391-1E9B-26CF022F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68E43-3858-4EF6-AB34-AD6919C5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9152D8-4EBE-97B6-B636-2B519863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2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426C8-CEA9-E7B9-A1D2-32C42244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E30952-58B4-D44D-E354-28DECDF3D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0B49C7-1F5A-2EA0-1527-D68D9D387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114366-872B-409A-BF03-FA262873A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CB33A-5331-B42B-25EF-1A43720BD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1EDB52-421D-D4AE-CFF4-C411A4DD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A31A97-449C-0C66-1233-B2D45321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37FA2A-2B30-894B-7E41-255827CE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7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BC357-8C09-BA54-E71F-B7111A38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F04D09-68F1-CA80-57BD-FF3A2B4A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55B826-EDB7-2868-4A48-B9E3CD08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E2710D-EB79-B7B4-BE03-7C12B2A6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1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CCAF7A-CE14-E7CA-79D5-777E6504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B1C4AA-C91A-692A-52C5-0ECCD68E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A1B1A-28FA-0495-DF6B-781B923D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92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1FFE8-DC67-6E43-53AC-6B0790D0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625D4-0D91-C805-CF84-898F478A0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2F2A86-E447-CD4E-29C0-8910F04CA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55DEDA-72E0-26E7-55F9-9D978414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E63FE-4602-B821-41E0-25E14D45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58F81B-94FE-A2BB-68ED-1AEBDAAC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82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32A3D-8F53-C717-54FF-0E052122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A30BF0-B652-C272-D50F-DB1ED0E8C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97BE12-FF3C-9673-DB81-2BAA99C80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9D17A6-5EC8-F651-50E6-0CF1D14B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D7E8FA-8B6D-2BD3-18DD-6E8B8613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0F741-C6A3-0302-7039-65FF4201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06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3673E-B7F2-2BDD-DB34-D5A1A604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8BB201-AA60-88BD-5248-BFA88EB74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9A77E-D06D-2393-DC86-5028EEE9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E989D-6E10-8790-EA28-C89CC3C6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FC33E-4C93-F139-6306-55BFC49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9A3283-8FA5-82F8-F795-AE6C66149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9E95B4-5AC3-0011-4B09-AB7DF39C9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9A626-6D03-3C52-061E-9041E836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C3E009-92A6-0DCA-7EF5-5E49F3E1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943F9-6837-6D27-E28F-3506D513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07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022B5D-85D3-3737-2D2B-87E9C310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98AFEB-9BB3-A028-AD81-C301270E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AC5D9-C893-03CA-5E1A-E9DE77BE3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A9ED1-685D-413F-8068-76CCC47CB8DF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A6675-10CC-A4C2-C6D7-46691FAE6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29975-9776-3F50-AEDC-3EE20DB28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F21FE-21F2-4C3B-941A-3FDD8F27D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24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21BF1-3924-BEF8-5043-650D0158E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Energy-based Out of Distribution Detection for Graph Neural Networks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9620AB-2587-92DF-98E1-AE654C6FF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1340"/>
            <a:ext cx="9144000" cy="1655762"/>
          </a:xfrm>
        </p:spPr>
        <p:txBody>
          <a:bodyPr/>
          <a:lstStyle/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Presenter: Jiaqing Xie</a:t>
            </a: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2024.06.07</a:t>
            </a:r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1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EDF1194-CE2F-F133-D264-765AAE4AFCD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200" dirty="0">
                <a:latin typeface="Linux Biolinum" panose="02000503000000000000" pitchFamily="2" charset="0"/>
                <a:cs typeface="Linux Biolinum" panose="02000503000000000000" pitchFamily="2" charset="0"/>
              </a:rPr>
              <a:t>V: Vertexes, E: Edges, A: Adjacency Matrix</a:t>
            </a:r>
          </a:p>
          <a:p>
            <a:pPr marL="0" indent="0">
              <a:buNone/>
            </a:pPr>
            <a:r>
              <a:rPr lang="en-US" altLang="zh-CN" sz="2200" dirty="0">
                <a:latin typeface="Linux Biolinum" panose="02000503000000000000" pitchFamily="2" charset="0"/>
                <a:cs typeface="Linux Biolinum" panose="02000503000000000000" pitchFamily="2" charset="0"/>
              </a:rPr>
              <a:t>Graph G = (V, E, X), X: node features</a:t>
            </a:r>
          </a:p>
          <a:p>
            <a:pPr marL="0" indent="0">
              <a:buNone/>
            </a:pPr>
            <a:r>
              <a:rPr lang="en-US" altLang="zh-CN" sz="2200" dirty="0">
                <a:latin typeface="Linux Biolinum" panose="02000503000000000000" pitchFamily="2" charset="0"/>
                <a:cs typeface="Linux Biolinum" panose="02000503000000000000" pitchFamily="2" charset="0"/>
              </a:rPr>
              <a:t>Graph Neural Network F(A, X) </a:t>
            </a:r>
          </a:p>
          <a:p>
            <a:endParaRPr lang="en-US" altLang="zh-CN" sz="2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sz="2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endParaRPr lang="en-US" altLang="zh-CN" sz="2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sz="2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sz="2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Traditional Graph Learning vs. Graph OOD Detection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3" name="内容占位符 5" descr="图示&#10;&#10;描述已自动生成">
            <a:extLst>
              <a:ext uri="{FF2B5EF4-FFF2-40B4-BE49-F238E27FC236}">
                <a16:creationId xmlns:a16="http://schemas.microsoft.com/office/drawing/2014/main" id="{74421048-AB13-514B-3DED-AB3393918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7" t="-473" r="1492" b="52405"/>
          <a:stretch/>
        </p:blipFill>
        <p:spPr>
          <a:xfrm>
            <a:off x="687859" y="3565105"/>
            <a:ext cx="5523471" cy="1381108"/>
          </a:xfrm>
        </p:spPr>
      </p:pic>
      <p:pic>
        <p:nvPicPr>
          <p:cNvPr id="8" name="内容占位符 5" descr="图示&#10;&#10;描述已自动生成">
            <a:extLst>
              <a:ext uri="{FF2B5EF4-FFF2-40B4-BE49-F238E27FC236}">
                <a16:creationId xmlns:a16="http://schemas.microsoft.com/office/drawing/2014/main" id="{87FDE2E4-AEA7-DD55-D4E7-828CD64760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1" t="51936"/>
          <a:stretch/>
        </p:blipFill>
        <p:spPr>
          <a:xfrm>
            <a:off x="6445593" y="3656901"/>
            <a:ext cx="5298456" cy="13391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C181AC3-FACA-E19E-7FB0-7254792EBB70}"/>
              </a:ext>
            </a:extLst>
          </p:cNvPr>
          <p:cNvSpPr txBox="1"/>
          <p:nvPr/>
        </p:nvSpPr>
        <p:spPr>
          <a:xfrm>
            <a:off x="337255" y="5258367"/>
            <a:ext cx="6094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800" dirty="0">
                <a:latin typeface="Linux Biolinum" panose="02000503000000000000" pitchFamily="2" charset="0"/>
                <a:cs typeface="Linux Biolinum" panose="02000503000000000000" pitchFamily="2" charset="0"/>
              </a:rPr>
              <a:t>Traditional Graph Learning</a:t>
            </a:r>
          </a:p>
          <a:p>
            <a:pPr algn="ctr"/>
            <a:r>
              <a:rPr lang="en-US" altLang="zh-CN" sz="1800" dirty="0">
                <a:latin typeface="Linux Biolinum" panose="02000503000000000000" pitchFamily="2" charset="0"/>
                <a:cs typeface="Linux Biolinum" panose="02000503000000000000" pitchFamily="2" charset="0"/>
              </a:rPr>
              <a:t>Task: Node / Graph Classification, 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3DB92B-3858-B2A8-95FF-131C7918CD1A}"/>
              </a:ext>
            </a:extLst>
          </p:cNvPr>
          <p:cNvSpPr txBox="1"/>
          <p:nvPr/>
        </p:nvSpPr>
        <p:spPr>
          <a:xfrm>
            <a:off x="6933170" y="5258367"/>
            <a:ext cx="38475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800" dirty="0">
                <a:latin typeface="Linux Biolinum" panose="02000503000000000000" pitchFamily="2" charset="0"/>
                <a:cs typeface="Linux Biolinum" panose="02000503000000000000" pitchFamily="2" charset="0"/>
              </a:rPr>
              <a:t>Graph OOD Detection</a:t>
            </a:r>
          </a:p>
          <a:p>
            <a:pPr algn="ctr"/>
            <a:r>
              <a:rPr lang="en-US" altLang="zh-CN" sz="1800" dirty="0">
                <a:latin typeface="Linux Biolinum" panose="02000503000000000000" pitchFamily="2" charset="0"/>
                <a:cs typeface="Linux Biolinum" panose="02000503000000000000" pitchFamily="2" charset="0"/>
              </a:rPr>
              <a:t>Task:  Binary 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398982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A GNN Baseline (Example: GCN)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Layer-wise Propagation</a:t>
            </a: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                                           (dim = C) </a:t>
            </a: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GNN Classifier (</a:t>
            </a:r>
            <a:r>
              <a:rPr lang="en-US" altLang="zh-CN" dirty="0" err="1">
                <a:latin typeface="Linux Biolinum" panose="02000503000000000000" pitchFamily="2" charset="0"/>
                <a:cs typeface="Linux Biolinum" panose="02000503000000000000" pitchFamily="2" charset="0"/>
              </a:rPr>
              <a:t>softmax</a:t>
            </a:r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)</a:t>
            </a: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8714BD-55C5-265D-1C5B-11E4D15CF2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6" t="4787"/>
          <a:stretch/>
        </p:blipFill>
        <p:spPr>
          <a:xfrm>
            <a:off x="2258556" y="2724260"/>
            <a:ext cx="7772611" cy="515500"/>
          </a:xfrm>
          <a:prstGeom prst="rect">
            <a:avLst/>
          </a:prstGeom>
        </p:spPr>
      </p:pic>
      <p:pic>
        <p:nvPicPr>
          <p:cNvPr id="9" name="图片 8" descr="文本, 信件&#10;&#10;描述已自动生成">
            <a:extLst>
              <a:ext uri="{FF2B5EF4-FFF2-40B4-BE49-F238E27FC236}">
                <a16:creationId xmlns:a16="http://schemas.microsoft.com/office/drawing/2014/main" id="{3A83F305-E750-7F2A-4A63-795928D5C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96" y="5065621"/>
            <a:ext cx="5866436" cy="1427254"/>
          </a:xfrm>
          <a:prstGeom prst="rect">
            <a:avLst/>
          </a:prstGeom>
        </p:spPr>
      </p:pic>
      <p:pic>
        <p:nvPicPr>
          <p:cNvPr id="11" name="图片 10" descr="文本, 信件&#10;&#10;描述已自动生成">
            <a:extLst>
              <a:ext uri="{FF2B5EF4-FFF2-40B4-BE49-F238E27FC236}">
                <a16:creationId xmlns:a16="http://schemas.microsoft.com/office/drawing/2014/main" id="{CB70AECB-0277-E5A2-9C08-3490334A8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56" y="3330247"/>
            <a:ext cx="2248918" cy="77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5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EE2DF93-82B3-2703-3C71-6BF9DD14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Limitation of </a:t>
            </a:r>
            <a:r>
              <a:rPr lang="en-US" altLang="zh-CN" sz="3200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Softmax</a:t>
            </a:r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 for OOD Detection</a:t>
            </a:r>
            <a:endParaRPr lang="zh-CN" altLang="en-US" sz="32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FAC9AA9-D546-DBAA-2A77-F5A770FEB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242"/>
            <a:ext cx="10659762" cy="4351338"/>
          </a:xfrm>
        </p:spPr>
        <p:txBody>
          <a:bodyPr/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In Image Domain, directly use the predictions of CNNs for OOD detection would lead to overconfidence of OOD data [Nguyen et al. ].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In Graph Domain, this overconfidence also exists for Graph OOD data [Wu et al. ].</a:t>
            </a:r>
          </a:p>
          <a:p>
            <a:pPr marL="0" indent="0">
              <a:buNone/>
            </a:pPr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sz="28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Motivation : Use of Energy function, which is proved to be aligned with probability density 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of input data [</a:t>
            </a:r>
            <a:r>
              <a:rPr lang="en-US" altLang="zh-CN" sz="28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Liu et al.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]. 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BB0674-A471-E10C-8EE2-A4E18AB2EFF1}"/>
              </a:ext>
            </a:extLst>
          </p:cNvPr>
          <p:cNvSpPr txBox="1"/>
          <p:nvPr/>
        </p:nvSpPr>
        <p:spPr>
          <a:xfrm>
            <a:off x="1039511" y="6179063"/>
            <a:ext cx="7956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Energy-based Out of Distribution Detection. Liu et al. </a:t>
            </a:r>
            <a:r>
              <a:rPr lang="en-US" altLang="zh-CN" sz="1800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NeurIPS</a:t>
            </a:r>
            <a:r>
              <a:rPr lang="en-US" altLang="zh-CN" sz="18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 2020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3C51E1-6FE3-74E5-B0D5-C9A77889D93A}"/>
              </a:ext>
            </a:extLst>
          </p:cNvPr>
          <p:cNvSpPr txBox="1"/>
          <p:nvPr/>
        </p:nvSpPr>
        <p:spPr>
          <a:xfrm>
            <a:off x="1039511" y="6534834"/>
            <a:ext cx="9988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Energy-based Out of Distribution Detection for Graph Neural Networks. 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Wu et al. ICLR 2023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DD506B-4017-D3D5-ED8B-89DFC51D049E}"/>
              </a:ext>
            </a:extLst>
          </p:cNvPr>
          <p:cNvSpPr txBox="1"/>
          <p:nvPr/>
        </p:nvSpPr>
        <p:spPr>
          <a:xfrm>
            <a:off x="1039511" y="5809731"/>
            <a:ext cx="7956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Deep Neural Networks are easily fooled. Nguyen et al. CVPR 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99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徽标&#10;&#10;描述已自动生成">
            <a:extLst>
              <a:ext uri="{FF2B5EF4-FFF2-40B4-BE49-F238E27FC236}">
                <a16:creationId xmlns:a16="http://schemas.microsoft.com/office/drawing/2014/main" id="{42FC872F-E349-561B-C5C6-C1BF3119A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486" y="5962409"/>
            <a:ext cx="4209533" cy="8871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Motivation 1: Use</a:t>
            </a:r>
            <a:r>
              <a:rPr lang="zh-CN" altLang="en-US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 </a:t>
            </a:r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of</a:t>
            </a:r>
            <a:r>
              <a:rPr lang="zh-CN" altLang="en-US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 </a:t>
            </a:r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</a:t>
            </a: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Free energy function </a:t>
            </a:r>
          </a:p>
          <a:p>
            <a:pPr lvl="1"/>
            <a:endParaRPr lang="en-US" altLang="zh-CN" sz="28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Loss Objective (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Original Predictor</a:t>
            </a:r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)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0352294-1D5C-12DF-9CD1-BB841C584465}"/>
              </a:ext>
            </a:extLst>
          </p:cNvPr>
          <p:cNvGrpSpPr/>
          <p:nvPr/>
        </p:nvGrpSpPr>
        <p:grpSpPr>
          <a:xfrm>
            <a:off x="3649304" y="2595914"/>
            <a:ext cx="3776362" cy="390236"/>
            <a:chOff x="3281088" y="2631026"/>
            <a:chExt cx="3073558" cy="301227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AC41DEF-3132-283B-0A53-069980D43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17"/>
            <a:stretch/>
          </p:blipFill>
          <p:spPr>
            <a:xfrm>
              <a:off x="3281088" y="2649436"/>
              <a:ext cx="1720938" cy="28281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1B70EB2-87BF-8093-DA74-698F112D45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17"/>
            <a:stretch/>
          </p:blipFill>
          <p:spPr>
            <a:xfrm>
              <a:off x="5002026" y="2631026"/>
              <a:ext cx="1352620" cy="282817"/>
            </a:xfrm>
            <a:prstGeom prst="rect">
              <a:avLst/>
            </a:prstGeom>
          </p:spPr>
        </p:pic>
      </p:grpSp>
      <p:pic>
        <p:nvPicPr>
          <p:cNvPr id="14" name="图片 13" descr="图片包含 文本&#10;&#10;描述已自动生成">
            <a:extLst>
              <a:ext uri="{FF2B5EF4-FFF2-40B4-BE49-F238E27FC236}">
                <a16:creationId xmlns:a16="http://schemas.microsoft.com/office/drawing/2014/main" id="{4F066953-E20C-25BF-5F19-88E9F8F8BAC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0"/>
          <a:stretch/>
        </p:blipFill>
        <p:spPr>
          <a:xfrm>
            <a:off x="3454176" y="3895061"/>
            <a:ext cx="4223101" cy="93674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C05637A-3A3D-0037-187C-01FCB6CFB440}"/>
              </a:ext>
            </a:extLst>
          </p:cNvPr>
          <p:cNvSpPr txBox="1"/>
          <p:nvPr/>
        </p:nvSpPr>
        <p:spPr>
          <a:xfrm>
            <a:off x="9125588" y="1669242"/>
            <a:ext cx="2933445" cy="2308324"/>
          </a:xfrm>
          <a:prstGeom prst="rect">
            <a:avLst/>
          </a:prstGeom>
          <a:noFill/>
          <a:ln w="57150">
            <a:solidFill>
              <a:schemeClr val="accent2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Original Predictor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24" name="图片 23" descr="文本, 信件&#10;&#10;描述已自动生成">
            <a:extLst>
              <a:ext uri="{FF2B5EF4-FFF2-40B4-BE49-F238E27FC236}">
                <a16:creationId xmlns:a16="http://schemas.microsoft.com/office/drawing/2014/main" id="{564CEC03-0CB3-A845-03D1-84A2FEFE21F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r="5935"/>
          <a:stretch/>
        </p:blipFill>
        <p:spPr>
          <a:xfrm>
            <a:off x="9165478" y="2387322"/>
            <a:ext cx="2853664" cy="802961"/>
          </a:xfrm>
          <a:prstGeom prst="rect">
            <a:avLst/>
          </a:prstGeom>
        </p:spPr>
      </p:pic>
      <p:sp>
        <p:nvSpPr>
          <p:cNvPr id="4" name="箭头: 下 3">
            <a:extLst>
              <a:ext uri="{FF2B5EF4-FFF2-40B4-BE49-F238E27FC236}">
                <a16:creationId xmlns:a16="http://schemas.microsoft.com/office/drawing/2014/main" id="{17BCB676-A1CA-6B27-EE2F-C69A960E183C}"/>
              </a:ext>
            </a:extLst>
          </p:cNvPr>
          <p:cNvSpPr/>
          <p:nvPr/>
        </p:nvSpPr>
        <p:spPr>
          <a:xfrm rot="2630736">
            <a:off x="8015231" y="3498050"/>
            <a:ext cx="500448" cy="19623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86E55F4-1318-CBFD-BD99-CC2A256D135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4" b="13696"/>
          <a:stretch/>
        </p:blipFill>
        <p:spPr>
          <a:xfrm>
            <a:off x="2965621" y="5362832"/>
            <a:ext cx="4973926" cy="6858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E66FDF-99F7-1FF9-0809-8ABBE3F0CF17}"/>
              </a:ext>
            </a:extLst>
          </p:cNvPr>
          <p:cNvSpPr txBox="1"/>
          <p:nvPr/>
        </p:nvSpPr>
        <p:spPr>
          <a:xfrm>
            <a:off x="9125588" y="4363431"/>
            <a:ext cx="2933445" cy="2308324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OOD Predictor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13" name="图片 12" descr="黑色的钟表&#10;&#10;中度可信度描述已自动生成">
            <a:extLst>
              <a:ext uri="{FF2B5EF4-FFF2-40B4-BE49-F238E27FC236}">
                <a16:creationId xmlns:a16="http://schemas.microsoft.com/office/drawing/2014/main" id="{8DF3852D-3438-B02F-2DAF-9CF0481201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666" y="5517593"/>
            <a:ext cx="2641720" cy="47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0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Motivation 2: Label Propagation 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Not all graph data are labeled </a:t>
            </a: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Graph data are inter-dependent, propagation with energy reinforces the confidence on detection</a:t>
            </a: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r>
              <a:rPr lang="en-US" altLang="zh-CN" sz="2400" dirty="0">
                <a:latin typeface="Linux Biolinum" panose="02000503000000000000" pitchFamily="2" charset="0"/>
                <a:cs typeface="Linux Biolinum" panose="02000503000000000000" pitchFamily="2" charset="0"/>
              </a:rPr>
              <a:t>Label Propagation, a non-parametric semi-supervised learning algorithm</a:t>
            </a: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B4E821-4752-F0B3-984B-E1F9F5C7AD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4" b="13696"/>
          <a:stretch/>
        </p:blipFill>
        <p:spPr>
          <a:xfrm>
            <a:off x="5702642" y="2051221"/>
            <a:ext cx="4973926" cy="6858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52032EB-B492-3FD5-4B51-8735C36F04BE}"/>
              </a:ext>
            </a:extLst>
          </p:cNvPr>
          <p:cNvSpPr/>
          <p:nvPr/>
        </p:nvSpPr>
        <p:spPr>
          <a:xfrm>
            <a:off x="8038070" y="2218038"/>
            <a:ext cx="401595" cy="44484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403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Label Propagation  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Initialize Energy </a:t>
            </a: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Belief Propagation</a:t>
            </a:r>
          </a:p>
          <a:p>
            <a:pPr lvl="1"/>
            <a:endParaRPr lang="en-US" altLang="zh-CN" sz="28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endParaRPr lang="en-US" altLang="zh-CN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cs typeface="Linux Biolinum" panose="02000503000000000000" pitchFamily="2" charset="0"/>
              </a:rPr>
              <a:t>OOD Detector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74DFC8-8C8F-E77C-B22B-5A7177023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46" y="2736829"/>
            <a:ext cx="3392992" cy="3961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06DC2E-275A-2525-69F4-19AF04AC6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763" y="3986058"/>
            <a:ext cx="7683851" cy="597633"/>
          </a:xfrm>
          <a:prstGeom prst="rect">
            <a:avLst/>
          </a:prstGeom>
        </p:spPr>
      </p:pic>
      <p:pic>
        <p:nvPicPr>
          <p:cNvPr id="11" name="图片 10" descr="卡通人物&#10;&#10;中度可信度描述已自动生成">
            <a:extLst>
              <a:ext uri="{FF2B5EF4-FFF2-40B4-BE49-F238E27FC236}">
                <a16:creationId xmlns:a16="http://schemas.microsoft.com/office/drawing/2014/main" id="{706BB34C-9B48-3719-3F78-0F9A3CE23A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740" y="5714755"/>
            <a:ext cx="6277212" cy="1101265"/>
          </a:xfrm>
          <a:prstGeom prst="rect">
            <a:avLst/>
          </a:prstGeom>
        </p:spPr>
      </p:pic>
      <p:pic>
        <p:nvPicPr>
          <p:cNvPr id="15" name="图片 14" descr="图片包含 图表&#10;&#10;描述已自动生成">
            <a:extLst>
              <a:ext uri="{FF2B5EF4-FFF2-40B4-BE49-F238E27FC236}">
                <a16:creationId xmlns:a16="http://schemas.microsoft.com/office/drawing/2014/main" id="{0D9754FF-E3A2-A16F-B425-05611FEF0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522" y="5293399"/>
            <a:ext cx="3187443" cy="5217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735B6FD-E5BE-B764-4D09-69B2DE78B923}"/>
              </a:ext>
            </a:extLst>
          </p:cNvPr>
          <p:cNvSpPr txBox="1"/>
          <p:nvPr/>
        </p:nvSpPr>
        <p:spPr>
          <a:xfrm>
            <a:off x="7101538" y="1676210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Recall</a:t>
            </a:r>
            <a:endParaRPr lang="zh-CN" altLang="en-US" dirty="0"/>
          </a:p>
        </p:txBody>
      </p:sp>
      <p:pic>
        <p:nvPicPr>
          <p:cNvPr id="12" name="图片 11" descr="图片包含 文本&#10;&#10;描述已自动生成">
            <a:extLst>
              <a:ext uri="{FF2B5EF4-FFF2-40B4-BE49-F238E27FC236}">
                <a16:creationId xmlns:a16="http://schemas.microsoft.com/office/drawing/2014/main" id="{8F2E3D74-BCD4-47C6-6C88-052B39376D5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0"/>
          <a:stretch/>
        </p:blipFill>
        <p:spPr>
          <a:xfrm>
            <a:off x="7829326" y="1456045"/>
            <a:ext cx="4223101" cy="93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4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Motivation 3: Regularization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Previous settings didn’t include training Graph OOD data. 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 range: [</a:t>
            </a:r>
            <a:r>
              <a:rPr lang="en-US" altLang="zh-CN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t_in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, </a:t>
            </a:r>
            <a:r>
              <a:rPr lang="en-US" altLang="zh-CN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t_out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] 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Loss Objective</a:t>
            </a:r>
          </a:p>
          <a:p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pPr marL="0" indent="0">
              <a:buNone/>
            </a:pPr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4F6F031-C210-DA63-5B20-E82669379C8A}"/>
              </a:ext>
            </a:extLst>
          </p:cNvPr>
          <p:cNvGrpSpPr/>
          <p:nvPr/>
        </p:nvGrpSpPr>
        <p:grpSpPr>
          <a:xfrm>
            <a:off x="1763498" y="4698574"/>
            <a:ext cx="9106368" cy="825542"/>
            <a:chOff x="2661641" y="2646280"/>
            <a:chExt cx="9106368" cy="825542"/>
          </a:xfrm>
        </p:grpSpPr>
        <p:pic>
          <p:nvPicPr>
            <p:cNvPr id="6" name="图片 5" descr="文本&#10;&#10;描述已自动生成">
              <a:extLst>
                <a:ext uri="{FF2B5EF4-FFF2-40B4-BE49-F238E27FC236}">
                  <a16:creationId xmlns:a16="http://schemas.microsoft.com/office/drawing/2014/main" id="{FFFE2851-8378-3B02-087F-0B0A66622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1641" y="2893943"/>
              <a:ext cx="781090" cy="330217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A5A5ED1-9498-1734-C8A4-9A5796858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2731" y="2646280"/>
              <a:ext cx="8325278" cy="825542"/>
            </a:xfrm>
            <a:prstGeom prst="rect">
              <a:avLst/>
            </a:prstGeom>
          </p:spPr>
        </p:pic>
      </p:grp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570A2E55-C31B-A9D1-C577-580358560EF7}"/>
              </a:ext>
            </a:extLst>
          </p:cNvPr>
          <p:cNvSpPr/>
          <p:nvPr/>
        </p:nvSpPr>
        <p:spPr>
          <a:xfrm rot="16200000">
            <a:off x="4507566" y="4256842"/>
            <a:ext cx="429584" cy="2964131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575CD7CD-B292-C2F6-17FA-EBAE2D2EEA33}"/>
              </a:ext>
            </a:extLst>
          </p:cNvPr>
          <p:cNvSpPr/>
          <p:nvPr/>
        </p:nvSpPr>
        <p:spPr>
          <a:xfrm rot="16200000">
            <a:off x="8735899" y="4256842"/>
            <a:ext cx="429584" cy="2964131"/>
          </a:xfrm>
          <a:prstGeom prst="lef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70C0"/>
              </a:solidFill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1321D9-3623-BDEF-63ED-D9D6A54355A2}"/>
              </a:ext>
            </a:extLst>
          </p:cNvPr>
          <p:cNvSpPr txBox="1"/>
          <p:nvPr/>
        </p:nvSpPr>
        <p:spPr>
          <a:xfrm>
            <a:off x="3943138" y="6233662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In distribution</a:t>
            </a:r>
            <a:endParaRPr lang="zh-CN" altLang="en-US" dirty="0">
              <a:solidFill>
                <a:schemeClr val="accent2"/>
              </a:solidFill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646365-370E-47AB-6627-AFFADB9759E8}"/>
              </a:ext>
            </a:extLst>
          </p:cNvPr>
          <p:cNvSpPr txBox="1"/>
          <p:nvPr/>
        </p:nvSpPr>
        <p:spPr>
          <a:xfrm>
            <a:off x="8036459" y="6220325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Out-of distribution</a:t>
            </a:r>
            <a:endParaRPr lang="zh-CN" altLang="en-US" dirty="0">
              <a:solidFill>
                <a:srgbClr val="0070C0"/>
              </a:solidFill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5" name="图片 4" descr="游戏机里面的人物&#10;&#10;低可信度描述已自动生成">
            <a:extLst>
              <a:ext uri="{FF2B5EF4-FFF2-40B4-BE49-F238E27FC236}">
                <a16:creationId xmlns:a16="http://schemas.microsoft.com/office/drawing/2014/main" id="{2FF56E2D-0C73-ECC5-88E9-8A985DDCC7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9"/>
          <a:stretch/>
        </p:blipFill>
        <p:spPr>
          <a:xfrm>
            <a:off x="3569824" y="3897237"/>
            <a:ext cx="2100726" cy="422553"/>
          </a:xfrm>
          <a:prstGeom prst="rect">
            <a:avLst/>
          </a:prstGeom>
        </p:spPr>
      </p:pic>
      <p:pic>
        <p:nvPicPr>
          <p:cNvPr id="7" name="图片 6" descr="图片包含 徽标&#10;&#10;描述已自动生成">
            <a:extLst>
              <a:ext uri="{FF2B5EF4-FFF2-40B4-BE49-F238E27FC236}">
                <a16:creationId xmlns:a16="http://schemas.microsoft.com/office/drawing/2014/main" id="{47B5D493-384D-EECB-A546-B532CB242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341" y="3871946"/>
            <a:ext cx="4209533" cy="8871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C753B85-A18A-75BB-FC49-F0FB717DC3D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34" b="13696"/>
          <a:stretch/>
        </p:blipFill>
        <p:spPr>
          <a:xfrm>
            <a:off x="5959476" y="3272369"/>
            <a:ext cx="4973926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8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Experiments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Baselines: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MSP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ODIN</a:t>
            </a:r>
          </a:p>
          <a:p>
            <a:pPr lvl="1"/>
            <a:r>
              <a:rPr lang="en-US" altLang="zh-CN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Mahalanobis</a:t>
            </a:r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OE (Outlier Exposure)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Energy without energy propagation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GKDE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GPN</a:t>
            </a:r>
          </a:p>
          <a:p>
            <a:pPr marL="457200" lvl="1" indent="0">
              <a:buNone/>
            </a:pPr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92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Experiments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Graph OOD data creation follow two settings: multi-graph and single graph</a:t>
            </a:r>
          </a:p>
          <a:p>
            <a:pPr marL="514350" indent="-514350">
              <a:buAutoNum type="arabicParenR"/>
            </a:pP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Multi-graph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Choose subgraph DE as IID, other 5 subgraphs as OOD [Twitch]</a:t>
            </a:r>
          </a:p>
          <a:p>
            <a:pPr marL="514350" indent="-514350">
              <a:buAutoNum type="arabicParenR"/>
            </a:pP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Single graph 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Change structures / features / labels [Cora, Amazon, Coauthor]</a:t>
            </a:r>
          </a:p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Partition nodes (</a:t>
            </a:r>
            <a:r>
              <a:rPr lang="en-US" altLang="zh-CN" dirty="0" err="1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Arxiv</a:t>
            </a:r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), before 2015 IID, after 2017 OOD</a:t>
            </a:r>
          </a:p>
        </p:txBody>
      </p:sp>
    </p:spTree>
    <p:extLst>
      <p:ext uri="{BB962C8B-B14F-4D97-AF65-F5344CB8AC3E}">
        <p14:creationId xmlns:p14="http://schemas.microsoft.com/office/powerpoint/2010/main" val="171129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Results 1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6B43-BF52-3927-8BF8-90643A3D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Metrics: AUROC, AUPR, FPR95</a:t>
            </a:r>
          </a:p>
          <a:p>
            <a:pPr lvl="1"/>
            <a:endParaRPr lang="en-US" altLang="zh-CN" dirty="0">
              <a:latin typeface="Linux Biolinum" panose="02000503000000000000" pitchFamily="2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5" name="图片 4" descr="表格&#10;&#10;描述已自动生成">
            <a:extLst>
              <a:ext uri="{FF2B5EF4-FFF2-40B4-BE49-F238E27FC236}">
                <a16:creationId xmlns:a16="http://schemas.microsoft.com/office/drawing/2014/main" id="{6AD00944-2801-C257-641E-E5F2E5FFE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0" y="2539931"/>
            <a:ext cx="11020630" cy="368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2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Results 2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6" name="内容占位符 5" descr="图形用户界面, 图表, 直方图&#10;&#10;描述已自动生成">
            <a:extLst>
              <a:ext uri="{FF2B5EF4-FFF2-40B4-BE49-F238E27FC236}">
                <a16:creationId xmlns:a16="http://schemas.microsoft.com/office/drawing/2014/main" id="{C2FB2BDD-E95E-91FE-7984-4333153DC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55"/>
          <a:stretch/>
        </p:blipFill>
        <p:spPr>
          <a:xfrm>
            <a:off x="996720" y="1690689"/>
            <a:ext cx="10799539" cy="2430461"/>
          </a:xfrm>
        </p:spPr>
      </p:pic>
    </p:spTree>
    <p:extLst>
      <p:ext uri="{BB962C8B-B14F-4D97-AF65-F5344CB8AC3E}">
        <p14:creationId xmlns:p14="http://schemas.microsoft.com/office/powerpoint/2010/main" val="164107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983F-D23F-4C1B-ABA7-D493839D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Thanks</a:t>
            </a:r>
            <a:endParaRPr lang="zh-CN" altLang="en-US" sz="3200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8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1AF28843-D0B0-27BB-E436-4A73823A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Motivation 3: Regularization</a:t>
            </a:r>
            <a:endParaRPr lang="zh-CN" altLang="en-US" sz="3200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7395A931-EECA-1BA6-9012-5CA621195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Additional regularization doesn’t effect NLL</a:t>
            </a:r>
          </a:p>
          <a:p>
            <a:r>
              <a:rPr lang="en-US" altLang="zh-CN" dirty="0"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Proof:</a:t>
            </a:r>
          </a:p>
          <a:p>
            <a:endParaRPr lang="zh-CN" altLang="en-US" dirty="0">
              <a:latin typeface="Linux Biolinum" panose="02000503000000000000" pitchFamily="2" charset="0"/>
              <a:cs typeface="Linux Biolinum" panose="02000503000000000000" pitchFamily="2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F241CBC-2ACE-9220-578F-38ADEAD80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992" y="2555835"/>
            <a:ext cx="4834104" cy="590570"/>
          </a:xfrm>
          <a:prstGeom prst="rect">
            <a:avLst/>
          </a:prstGeom>
        </p:spPr>
      </p:pic>
      <p:pic>
        <p:nvPicPr>
          <p:cNvPr id="21" name="图片 20" descr="文本, 信件&#10;&#10;描述已自动生成">
            <a:extLst>
              <a:ext uri="{FF2B5EF4-FFF2-40B4-BE49-F238E27FC236}">
                <a16:creationId xmlns:a16="http://schemas.microsoft.com/office/drawing/2014/main" id="{623B0760-8FED-D242-860E-B2D910E91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959" y="3281342"/>
            <a:ext cx="5032541" cy="1845760"/>
          </a:xfrm>
          <a:prstGeom prst="rect">
            <a:avLst/>
          </a:prstGeom>
        </p:spPr>
      </p:pic>
      <p:pic>
        <p:nvPicPr>
          <p:cNvPr id="23" name="图片 22" descr="文本, 信件&#10;&#10;描述已自动生成">
            <a:extLst>
              <a:ext uri="{FF2B5EF4-FFF2-40B4-BE49-F238E27FC236}">
                <a16:creationId xmlns:a16="http://schemas.microsoft.com/office/drawing/2014/main" id="{19C448CA-D7EB-C548-F2E5-054B1BF67B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42" y="5190516"/>
            <a:ext cx="5321573" cy="15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55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4408</TotalTime>
  <Words>408</Words>
  <Application>Microsoft Office PowerPoint</Application>
  <PresentationFormat>宽屏</PresentationFormat>
  <Paragraphs>111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Linux Biolinum</vt:lpstr>
      <vt:lpstr>Office 主题​​</vt:lpstr>
      <vt:lpstr>Energy-based Out of Distribution Detection for Graph Neural Networks</vt:lpstr>
      <vt:lpstr>Traditional Graph Learning vs. Graph OOD Detection</vt:lpstr>
      <vt:lpstr>A GNN Baseline (Example: GCN)</vt:lpstr>
      <vt:lpstr>Limitation of Softmax for OOD Detection</vt:lpstr>
      <vt:lpstr>Motivation 1: Use of Energy</vt:lpstr>
      <vt:lpstr>Motivation 2: Label Propagation </vt:lpstr>
      <vt:lpstr>Label Propagation  </vt:lpstr>
      <vt:lpstr>Motivation 3: Regularization</vt:lpstr>
      <vt:lpstr>Experiments</vt:lpstr>
      <vt:lpstr>Experiments</vt:lpstr>
      <vt:lpstr>Results 1</vt:lpstr>
      <vt:lpstr>Results 2</vt:lpstr>
      <vt:lpstr>Thanks</vt:lpstr>
      <vt:lpstr>Motivation 3: Regularization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Robustness of Graph OOD</dc:title>
  <dc:creator>Xie  Jiaqing</dc:creator>
  <cp:lastModifiedBy>Xie  Jiaqing</cp:lastModifiedBy>
  <cp:revision>650</cp:revision>
  <dcterms:created xsi:type="dcterms:W3CDTF">2024-05-07T16:02:17Z</dcterms:created>
  <dcterms:modified xsi:type="dcterms:W3CDTF">2024-06-13T14:49:54Z</dcterms:modified>
</cp:coreProperties>
</file>